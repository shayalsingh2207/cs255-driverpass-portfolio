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tags/tag3.xml" ContentType="application/vnd.openxmlformats-officedocument.presentationml.tags+xml"/>
  <Override PartName="/ppt/notesSlides/notesSlide2.xml" ContentType="application/vnd.openxmlformats-officedocument.presentationml.notesSlide+xml"/>
  <Override PartName="/ppt/tags/tag4.xml" ContentType="application/vnd.openxmlformats-officedocument.presentationml.tags+xml"/>
  <Override PartName="/ppt/notesSlides/notesSlide3.xml" ContentType="application/vnd.openxmlformats-officedocument.presentationml.notesSlide+xml"/>
  <Override PartName="/ppt/tags/tag5.xml" ContentType="application/vnd.openxmlformats-officedocument.presentationml.tags+xml"/>
  <Override PartName="/ppt/notesSlides/notesSlide4.xml" ContentType="application/vnd.openxmlformats-officedocument.presentationml.notesSlide+xml"/>
  <Override PartName="/ppt/tags/tag6.xml" ContentType="application/vnd.openxmlformats-officedocument.presentationml.tags+xml"/>
  <Override PartName="/ppt/notesSlides/notesSlide5.xml" ContentType="application/vnd.openxmlformats-officedocument.presentationml.notesSlide+xml"/>
  <Override PartName="/ppt/tags/tag7.xml" ContentType="application/vnd.openxmlformats-officedocument.presentationml.tags+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8" r:id="rId2"/>
    <p:sldId id="260" r:id="rId3"/>
    <p:sldId id="261" r:id="rId4"/>
    <p:sldId id="267" r:id="rId5"/>
    <p:sldId id="263" r:id="rId6"/>
    <p:sldId id="26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950" autoAdjust="0"/>
    <p:restoredTop sz="65827" autoAdjust="0"/>
  </p:normalViewPr>
  <p:slideViewPr>
    <p:cSldViewPr snapToGrid="0">
      <p:cViewPr>
        <p:scale>
          <a:sx n="70" d="100"/>
          <a:sy n="70" d="100"/>
        </p:scale>
        <p:origin x="-1632"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C20BB3-3CCB-4FE5-991B-82F6BCB48AF3}" type="datetimeFigureOut">
              <a:rPr lang="en-US" smtClean="0"/>
              <a:t>2/22/26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0746DE6-3336-457D-A091-FA20AC1C536E}" type="slidenum">
              <a:rPr lang="en-US" smtClean="0"/>
              <a:t>‹#›</a:t>
            </a:fld>
            <a:endParaRPr lang="en-US"/>
          </a:p>
        </p:txBody>
      </p:sp>
    </p:spTree>
    <p:extLst>
      <p:ext uri="{BB962C8B-B14F-4D97-AF65-F5344CB8AC3E}">
        <p14:creationId xmlns:p14="http://schemas.microsoft.com/office/powerpoint/2010/main" val="85629444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a:t>
            </a:r>
            <a:r>
              <a:rPr lang="en-US" baseline="0" dirty="0"/>
              <a:t> speaker notes required for this slide.]</a:t>
            </a:r>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1</a:t>
            </a:fld>
            <a:endParaRPr lang="en-US"/>
          </a:p>
        </p:txBody>
      </p:sp>
    </p:spTree>
    <p:extLst>
      <p:ext uri="{BB962C8B-B14F-4D97-AF65-F5344CB8AC3E}">
        <p14:creationId xmlns:p14="http://schemas.microsoft.com/office/powerpoint/2010/main" val="42162425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functional requirements for the </a:t>
            </a:r>
            <a:r>
              <a:rPr lang="en-US" dirty="0" err="1"/>
              <a:t>DriverPass</a:t>
            </a:r>
            <a:r>
              <a:rPr lang="en-US" dirty="0"/>
              <a:t> system include allowing students to create accounts, log in securely, schedule driving lessons, take online practice tests, and make payments. These features are essential because they directly support the main services that </a:t>
            </a:r>
            <a:r>
              <a:rPr lang="en-US" dirty="0" err="1"/>
              <a:t>DriverPass</a:t>
            </a:r>
            <a:r>
              <a:rPr lang="en-US" dirty="0"/>
              <a:t> provides to its customers.</a:t>
            </a:r>
          </a:p>
          <a:p>
            <a:endParaRPr lang="en-US" dirty="0"/>
          </a:p>
          <a:p>
            <a:r>
              <a:rPr lang="en-US" dirty="0"/>
              <a:t>The nonfunctional requirements focus on how the system performs rather than what it does. The system must be reliable, secure, and easy to use. It must protect personal information and payment details, and it should work smoothly without frequent downtime. These requirements ensure that customers have a positive experience and that </a:t>
            </a:r>
            <a:r>
              <a:rPr lang="en-US" dirty="0" err="1"/>
              <a:t>DriverPass</a:t>
            </a:r>
            <a:r>
              <a:rPr lang="en-US" dirty="0"/>
              <a:t> can operate efficiently and securely.]</a:t>
            </a:r>
          </a:p>
        </p:txBody>
      </p:sp>
      <p:sp>
        <p:nvSpPr>
          <p:cNvPr id="4" name="Slide Number Placeholder 3"/>
          <p:cNvSpPr>
            <a:spLocks noGrp="1"/>
          </p:cNvSpPr>
          <p:nvPr>
            <p:ph type="sldNum" sz="quarter" idx="10"/>
          </p:nvPr>
        </p:nvSpPr>
        <p:spPr/>
        <p:txBody>
          <a:bodyPr/>
          <a:lstStyle/>
          <a:p>
            <a:fld id="{E0746DE6-3336-457D-A091-FA20AC1C536E}" type="slidenum">
              <a:rPr lang="en-US" smtClean="0"/>
              <a:t>2</a:t>
            </a:fld>
            <a:endParaRPr lang="en-US"/>
          </a:p>
        </p:txBody>
      </p:sp>
    </p:spTree>
    <p:extLst>
      <p:ext uri="{BB962C8B-B14F-4D97-AF65-F5344CB8AC3E}">
        <p14:creationId xmlns:p14="http://schemas.microsoft.com/office/powerpoint/2010/main" val="3399264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diagram shows who can use the system and what they can do. </a:t>
            </a:r>
            <a:br>
              <a:rPr lang="en-US" dirty="0"/>
            </a:br>
            <a:r>
              <a:rPr lang="en-US" dirty="0"/>
              <a:t>Students can register, log in, schedule lessons, take practice tests, view learning materials, and make payments. </a:t>
            </a:r>
            <a:br>
              <a:rPr lang="en-US" dirty="0"/>
            </a:br>
            <a:r>
              <a:rPr lang="en-US" dirty="0"/>
              <a:t>Office staff can manage accounts and view reports. </a:t>
            </a:r>
            <a:br>
              <a:rPr lang="en-US" dirty="0"/>
            </a:br>
            <a:r>
              <a:rPr lang="en-US" dirty="0"/>
              <a:t>Instructors can view lesson-related reports. </a:t>
            </a:r>
            <a:br>
              <a:rPr lang="en-US" dirty="0"/>
            </a:br>
            <a:r>
              <a:rPr lang="en-US" dirty="0"/>
              <a:t>Administrators manage system data and update test questions. </a:t>
            </a:r>
            <a:br>
              <a:rPr lang="en-US" dirty="0"/>
            </a:br>
            <a:r>
              <a:rPr lang="en-US" dirty="0"/>
              <a:t>This design ensures everyone has access to the features they need.]</a:t>
            </a:r>
          </a:p>
        </p:txBody>
      </p:sp>
      <p:sp>
        <p:nvSpPr>
          <p:cNvPr id="4" name="Slide Number Placeholder 3"/>
          <p:cNvSpPr>
            <a:spLocks noGrp="1"/>
          </p:cNvSpPr>
          <p:nvPr>
            <p:ph type="sldNum" sz="quarter" idx="10"/>
          </p:nvPr>
        </p:nvSpPr>
        <p:spPr/>
        <p:txBody>
          <a:bodyPr/>
          <a:lstStyle/>
          <a:p>
            <a:fld id="{E0746DE6-3336-457D-A091-FA20AC1C536E}" type="slidenum">
              <a:rPr lang="en-US" smtClean="0"/>
              <a:t>3</a:t>
            </a:fld>
            <a:endParaRPr lang="en-US"/>
          </a:p>
        </p:txBody>
      </p:sp>
    </p:spTree>
    <p:extLst>
      <p:ext uri="{BB962C8B-B14F-4D97-AF65-F5344CB8AC3E}">
        <p14:creationId xmlns:p14="http://schemas.microsoft.com/office/powerpoint/2010/main" val="226283515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[This diagram breaks down the process of scheduling a driving lesson. The student logs into the system, selects a lesson time, and the system checks instructor availability. If the time is available, the lesson is confirmed. If the time is not available, the student selects a different time. This design ensures that lessons are scheduled efficiently and without conflicts, meeting </a:t>
            </a:r>
            <a:r>
              <a:rPr lang="en-US" dirty="0" err="1"/>
              <a:t>DriverPass’s</a:t>
            </a:r>
            <a:r>
              <a:rPr lang="en-US" dirty="0"/>
              <a:t> need for simple and accurate scheduling.]</a:t>
            </a:r>
          </a:p>
          <a:p>
            <a:endParaRPr lang="en-US" dirty="0"/>
          </a:p>
        </p:txBody>
      </p:sp>
      <p:sp>
        <p:nvSpPr>
          <p:cNvPr id="4" name="Slide Number Placeholder 3"/>
          <p:cNvSpPr>
            <a:spLocks noGrp="1"/>
          </p:cNvSpPr>
          <p:nvPr>
            <p:ph type="sldNum" sz="quarter" idx="10"/>
          </p:nvPr>
        </p:nvSpPr>
        <p:spPr/>
        <p:txBody>
          <a:bodyPr/>
          <a:lstStyle/>
          <a:p>
            <a:fld id="{E0746DE6-3336-457D-A091-FA20AC1C536E}" type="slidenum">
              <a:rPr lang="en-US" smtClean="0"/>
              <a:t>4</a:t>
            </a:fld>
            <a:endParaRPr lang="en-US"/>
          </a:p>
        </p:txBody>
      </p:sp>
    </p:spTree>
    <p:extLst>
      <p:ext uri="{BB962C8B-B14F-4D97-AF65-F5344CB8AC3E}">
        <p14:creationId xmlns:p14="http://schemas.microsoft.com/office/powerpoint/2010/main" val="8961842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was carefully considered in this design. Users must log in with a username and password before accessing the system. Personal information is protected, and only authorized users can access certain features based on their role. Payments are handled securely to protect customer data. These measures help ensure that customer information remains safe and private.]</a:t>
            </a:r>
          </a:p>
        </p:txBody>
      </p:sp>
      <p:sp>
        <p:nvSpPr>
          <p:cNvPr id="4" name="Slide Number Placeholder 3"/>
          <p:cNvSpPr>
            <a:spLocks noGrp="1"/>
          </p:cNvSpPr>
          <p:nvPr>
            <p:ph type="sldNum" sz="quarter" idx="10"/>
          </p:nvPr>
        </p:nvSpPr>
        <p:spPr/>
        <p:txBody>
          <a:bodyPr/>
          <a:lstStyle/>
          <a:p>
            <a:fld id="{E0746DE6-3336-457D-A091-FA20AC1C536E}" type="slidenum">
              <a:rPr lang="en-US" smtClean="0"/>
              <a:t>5</a:t>
            </a:fld>
            <a:endParaRPr lang="en-US"/>
          </a:p>
        </p:txBody>
      </p:sp>
    </p:spTree>
    <p:extLst>
      <p:ext uri="{BB962C8B-B14F-4D97-AF65-F5344CB8AC3E}">
        <p14:creationId xmlns:p14="http://schemas.microsoft.com/office/powerpoint/2010/main" val="349161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[The system requires an internet connection in order to be used. Some features may have limited customization. If the system is temporarily unavailable due to maintenance or technical issues, users may not be able to access it. These limitations are common for online systems and can be managed with proper planning.]</a:t>
            </a:r>
          </a:p>
        </p:txBody>
      </p:sp>
      <p:sp>
        <p:nvSpPr>
          <p:cNvPr id="4" name="Slide Number Placeholder 3"/>
          <p:cNvSpPr>
            <a:spLocks noGrp="1"/>
          </p:cNvSpPr>
          <p:nvPr>
            <p:ph type="sldNum" sz="quarter" idx="10"/>
          </p:nvPr>
        </p:nvSpPr>
        <p:spPr/>
        <p:txBody>
          <a:bodyPr/>
          <a:lstStyle/>
          <a:p>
            <a:fld id="{E0746DE6-3336-457D-A091-FA20AC1C536E}" type="slidenum">
              <a:rPr lang="en-US" smtClean="0"/>
              <a:t>6</a:t>
            </a:fld>
            <a:endParaRPr lang="en-US"/>
          </a:p>
        </p:txBody>
      </p:sp>
    </p:spTree>
    <p:extLst>
      <p:ext uri="{BB962C8B-B14F-4D97-AF65-F5344CB8AC3E}">
        <p14:creationId xmlns:p14="http://schemas.microsoft.com/office/powerpoint/2010/main" val="9706606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391AB-F383-4237-A071-AD1C6E9246D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F6636DA-4FDE-4B32-8CCE-37EFA3E757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0F87932-8FF0-4DF1-A776-9A3CE37618A7}"/>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5" name="Footer Placeholder 4">
            <a:extLst>
              <a:ext uri="{FF2B5EF4-FFF2-40B4-BE49-F238E27FC236}">
                <a16:creationId xmlns:a16="http://schemas.microsoft.com/office/drawing/2014/main" id="{5F38FAB8-C9F1-4DBB-B355-D8DEE37065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490E3-D8E8-4766-9104-14009BF5636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456901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BC967-18DB-4664-9B4D-06177FB946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ADF7174-64B4-4D8F-BF44-3DD1F66CAD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CD83D3-86C4-482F-A2DC-B4C55DBF3F7A}"/>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5" name="Footer Placeholder 4">
            <a:extLst>
              <a:ext uri="{FF2B5EF4-FFF2-40B4-BE49-F238E27FC236}">
                <a16:creationId xmlns:a16="http://schemas.microsoft.com/office/drawing/2014/main" id="{DCF05BE2-6C23-4CB4-A63E-457E635BF2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C097965-24FE-4C07-BE16-69AE439950EF}"/>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275768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3394D-04EF-440C-B08B-114464B315C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BEBE3F6-F021-4D6B-8B0D-EF74D7461F9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196233C-6806-4593-91C0-CF4ECD84A601}"/>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5" name="Footer Placeholder 4">
            <a:extLst>
              <a:ext uri="{FF2B5EF4-FFF2-40B4-BE49-F238E27FC236}">
                <a16:creationId xmlns:a16="http://schemas.microsoft.com/office/drawing/2014/main" id="{963A761E-2D3A-4397-A82C-2F3B981DE04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297E71-B59F-4260-B01B-2B7CEB0896B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6393263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94DFCB-DD40-4637-9CAB-2BAF24231C7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394065F-4B44-4622-98EE-166F936489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7AF1249-B890-4466-9E24-84A24907008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0FA9B4-D282-452F-B78A-FF5873ACF45A}"/>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6" name="Footer Placeholder 5">
            <a:extLst>
              <a:ext uri="{FF2B5EF4-FFF2-40B4-BE49-F238E27FC236}">
                <a16:creationId xmlns:a16="http://schemas.microsoft.com/office/drawing/2014/main" id="{6E9B0F13-A139-4B66-9544-16480800F68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B8791D0-EC30-4D8C-8764-475D8DB34F1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0815023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33AA7D-15D2-4D5F-B1C4-501073416DE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5E80A0E-25B9-4E8E-8B0D-201E1C56409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189B111-0CA0-47CD-9F0B-DBCBA3AE3C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EF0E02D-3176-4B85-ACB6-721F2682742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C7D9317-BBE1-4F36-82FE-E348F6F18A9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837DDCB-69F8-49FA-A111-C8AB271389E7}"/>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8" name="Footer Placeholder 7">
            <a:extLst>
              <a:ext uri="{FF2B5EF4-FFF2-40B4-BE49-F238E27FC236}">
                <a16:creationId xmlns:a16="http://schemas.microsoft.com/office/drawing/2014/main" id="{4A18B0CD-1F68-412E-9232-F267114CA75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29B21FC-12CC-472D-BC38-EF413158CC5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894143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0F51AB-8384-4E67-914C-B39484AD233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A0909660-3861-4545-BF68-9ED039B5D0F0}"/>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4" name="Footer Placeholder 3">
            <a:extLst>
              <a:ext uri="{FF2B5EF4-FFF2-40B4-BE49-F238E27FC236}">
                <a16:creationId xmlns:a16="http://schemas.microsoft.com/office/drawing/2014/main" id="{FDDD5392-AC3A-4EAF-ADE6-B6CF4B50ACA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5679880-BF48-4F4D-B8B3-4E99FC415FF9}"/>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1351489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7F98E25-CF37-4F73-9E22-210238167867}"/>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3" name="Footer Placeholder 2">
            <a:extLst>
              <a:ext uri="{FF2B5EF4-FFF2-40B4-BE49-F238E27FC236}">
                <a16:creationId xmlns:a16="http://schemas.microsoft.com/office/drawing/2014/main" id="{89D7A0E1-38AB-4FDA-8EC1-2D7617909C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8A8E424-5A91-4557-9ADF-4A9422A0690D}"/>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4978027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BB935-0427-44CC-A384-333EAD83175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CCB9DCF6-55CF-43EE-B135-BFC4B4D403C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337538E-A112-4E8F-A445-1A06B0C353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30D413-9505-4ED8-BFF1-5141BE9EE3C4}"/>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6" name="Footer Placeholder 5">
            <a:extLst>
              <a:ext uri="{FF2B5EF4-FFF2-40B4-BE49-F238E27FC236}">
                <a16:creationId xmlns:a16="http://schemas.microsoft.com/office/drawing/2014/main" id="{F60815B0-4528-4FA2-8472-8F19C0F165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5C9FCEF-4406-4552-BFE4-6DA3761357F2}"/>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754063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5CE22C-69D4-49EC-8858-787B3C67B0D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346A4341-3C0B-4025-AE17-8F0F8FABF5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DEF5FF01-E0B6-419C-ABCC-70844E4EACB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501218-FFD7-4F25-B220-F5DE5F70693C}"/>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6" name="Footer Placeholder 5">
            <a:extLst>
              <a:ext uri="{FF2B5EF4-FFF2-40B4-BE49-F238E27FC236}">
                <a16:creationId xmlns:a16="http://schemas.microsoft.com/office/drawing/2014/main" id="{9687CBFB-34A6-49D8-A1D2-45DF38876EE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C2726A4-D33A-486A-B120-648AF3D8BA76}"/>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6447433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3B8678-553E-4A5B-8CFE-5DB358BDF35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43AF303-1F73-4575-83E6-561589F1632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436EC56-7DCF-400D-A871-C26291EB10AD}"/>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5" name="Footer Placeholder 4">
            <a:extLst>
              <a:ext uri="{FF2B5EF4-FFF2-40B4-BE49-F238E27FC236}">
                <a16:creationId xmlns:a16="http://schemas.microsoft.com/office/drawing/2014/main" id="{17FFAC5B-7C77-4F8C-ADB0-8D208A2EB30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D2F48AF-AB8F-4DD2-BC77-7E2F42AD3B87}"/>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31873178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0ED820-BFE6-41B5-8064-984037A999A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9CA27FEA-5359-474A-B4F8-FF510DD7489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4DD33D-563C-4B8C-B8C1-625FF5C5B85D}"/>
              </a:ext>
            </a:extLst>
          </p:cNvPr>
          <p:cNvSpPr>
            <a:spLocks noGrp="1"/>
          </p:cNvSpPr>
          <p:nvPr>
            <p:ph type="dt" sz="half" idx="10"/>
          </p:nvPr>
        </p:nvSpPr>
        <p:spPr/>
        <p:txBody>
          <a:bodyPr/>
          <a:lstStyle/>
          <a:p>
            <a:fld id="{5D6495F3-B757-4FAF-98AA-EDA7D1485485}" type="datetimeFigureOut">
              <a:rPr lang="en-US" smtClean="0"/>
              <a:t>2/22/26</a:t>
            </a:fld>
            <a:endParaRPr lang="en-US"/>
          </a:p>
        </p:txBody>
      </p:sp>
      <p:sp>
        <p:nvSpPr>
          <p:cNvPr id="5" name="Footer Placeholder 4">
            <a:extLst>
              <a:ext uri="{FF2B5EF4-FFF2-40B4-BE49-F238E27FC236}">
                <a16:creationId xmlns:a16="http://schemas.microsoft.com/office/drawing/2014/main" id="{40471877-89FD-46BE-832F-C5660A5567D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6E675F-CC4D-48CF-90C8-53829EE08B8C}"/>
              </a:ext>
            </a:extLst>
          </p:cNvPr>
          <p:cNvSpPr>
            <a:spLocks noGrp="1"/>
          </p:cNvSpPr>
          <p:nvPr>
            <p:ph type="sldNum" sz="quarter" idx="12"/>
          </p:nvPr>
        </p:nvSpPr>
        <p:spPr/>
        <p:txBody>
          <a:bodyPr/>
          <a:lstStyle/>
          <a:p>
            <a:fld id="{EE1939C1-24D7-49E9-A58A-7960365209F5}" type="slidenum">
              <a:rPr lang="en-US" smtClean="0"/>
              <a:t>‹#›</a:t>
            </a:fld>
            <a:endParaRPr lang="en-US"/>
          </a:p>
        </p:txBody>
      </p:sp>
    </p:spTree>
    <p:extLst>
      <p:ext uri="{BB962C8B-B14F-4D97-AF65-F5344CB8AC3E}">
        <p14:creationId xmlns:p14="http://schemas.microsoft.com/office/powerpoint/2010/main" val="2454621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C07C8C3-4165-4353-ABF2-492454AF91E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9AA46A-3C66-4E4A-9907-225E50ABB7A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7F8214-A11A-4309-9D51-44F35987D1B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6495F3-B757-4FAF-98AA-EDA7D1485485}" type="datetimeFigureOut">
              <a:rPr lang="en-US" smtClean="0"/>
              <a:t>2/22/26</a:t>
            </a:fld>
            <a:endParaRPr lang="en-US"/>
          </a:p>
        </p:txBody>
      </p:sp>
      <p:sp>
        <p:nvSpPr>
          <p:cNvPr id="5" name="Footer Placeholder 4">
            <a:extLst>
              <a:ext uri="{FF2B5EF4-FFF2-40B4-BE49-F238E27FC236}">
                <a16:creationId xmlns:a16="http://schemas.microsoft.com/office/drawing/2014/main" id="{D6A334EB-8260-4F13-9553-5A8593D9DC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0C1EF96-E028-4E68-864E-9B77CF9F25E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E1939C1-24D7-49E9-A58A-7960365209F5}" type="slidenum">
              <a:rPr lang="en-US" smtClean="0"/>
              <a:t>‹#›</a:t>
            </a:fld>
            <a:endParaRPr lang="en-US"/>
          </a:p>
        </p:txBody>
      </p:sp>
    </p:spTree>
    <p:extLst>
      <p:ext uri="{BB962C8B-B14F-4D97-AF65-F5344CB8AC3E}">
        <p14:creationId xmlns:p14="http://schemas.microsoft.com/office/powerpoint/2010/main" val="182594500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ags" Target="../tags/tag2.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5.xml"/><Relationship Id="rId5" Type="http://schemas.openxmlformats.org/officeDocument/2006/relationships/image" Target="../media/image4.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7.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3962611-DFD5-4092-AAFD-559E3DFCE2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488" y="0"/>
            <a:ext cx="10910292"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1" name="Picture 10">
            <a:extLst>
              <a:ext uri="{FF2B5EF4-FFF2-40B4-BE49-F238E27FC236}">
                <a16:creationId xmlns:a16="http://schemas.microsoft.com/office/drawing/2014/main" id="{2270F1FA-0425-408F-9861-80BF5AFB276D}"/>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3045368" y="2043663"/>
            <a:ext cx="6105194" cy="2031055"/>
          </a:xfrm>
        </p:spPr>
        <p:txBody>
          <a:bodyPr>
            <a:normAutofit/>
          </a:bodyPr>
          <a:lstStyle/>
          <a:p>
            <a:r>
              <a:rPr lang="en-US" dirty="0" err="1">
                <a:solidFill>
                  <a:srgbClr val="FFFFFF"/>
                </a:solidFill>
              </a:rPr>
              <a:t>DriverPass</a:t>
            </a:r>
            <a:br>
              <a:rPr lang="en-US" dirty="0">
                <a:solidFill>
                  <a:srgbClr val="FFFFFF"/>
                </a:solidFill>
              </a:rPr>
            </a:br>
            <a:r>
              <a:rPr lang="en-US" dirty="0">
                <a:solidFill>
                  <a:srgbClr val="FFFFFF"/>
                </a:solidFill>
              </a:rPr>
              <a:t>System Analysis</a:t>
            </a:r>
          </a:p>
        </p:txBody>
      </p:sp>
      <p:sp>
        <p:nvSpPr>
          <p:cNvPr id="3" name="Content Placeholder 2"/>
          <p:cNvSpPr>
            <a:spLocks noGrp="1"/>
          </p:cNvSpPr>
          <p:nvPr>
            <p:ph type="subTitle" idx="1"/>
          </p:nvPr>
        </p:nvSpPr>
        <p:spPr>
          <a:xfrm>
            <a:off x="3045368" y="4074718"/>
            <a:ext cx="6105194" cy="682079"/>
          </a:xfrm>
        </p:spPr>
        <p:txBody>
          <a:bodyPr>
            <a:normAutofit fontScale="85000" lnSpcReduction="20000"/>
          </a:bodyPr>
          <a:lstStyle/>
          <a:p>
            <a:r>
              <a:rPr lang="en-US" dirty="0">
                <a:solidFill>
                  <a:schemeClr val="bg1"/>
                </a:solidFill>
              </a:rPr>
              <a:t>CS 255 Project Two</a:t>
            </a:r>
          </a:p>
          <a:p>
            <a:r>
              <a:rPr lang="en-US" dirty="0">
                <a:solidFill>
                  <a:schemeClr val="bg1"/>
                </a:solidFill>
              </a:rPr>
              <a:t>Shayal Singh</a:t>
            </a:r>
            <a:endParaRPr dirty="0">
              <a:solidFill>
                <a:schemeClr val="bg1"/>
              </a:solidFill>
            </a:endParaRPr>
          </a:p>
        </p:txBody>
      </p:sp>
    </p:spTree>
    <p:custDataLst>
      <p:tags r:id="rId1"/>
    </p:custDataLst>
    <p:extLst>
      <p:ext uri="{BB962C8B-B14F-4D97-AF65-F5344CB8AC3E}">
        <p14:creationId xmlns:p14="http://schemas.microsoft.com/office/powerpoint/2010/main" val="4091820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Requirements</a:t>
            </a:r>
          </a:p>
        </p:txBody>
      </p:sp>
      <p:sp>
        <p:nvSpPr>
          <p:cNvPr id="3" name="Content Placeholder 2"/>
          <p:cNvSpPr>
            <a:spLocks noGrp="1"/>
          </p:cNvSpPr>
          <p:nvPr>
            <p:ph idx="1"/>
          </p:nvPr>
        </p:nvSpPr>
        <p:spPr>
          <a:xfrm>
            <a:off x="6090574" y="801866"/>
            <a:ext cx="5741762" cy="5230634"/>
          </a:xfrm>
        </p:spPr>
        <p:txBody>
          <a:bodyPr anchor="ctr">
            <a:normAutofit/>
          </a:bodyPr>
          <a:lstStyle/>
          <a:p>
            <a:pPr marL="0" indent="0">
              <a:buNone/>
            </a:pPr>
            <a:r>
              <a:rPr lang="en-US" sz="2400" dirty="0"/>
              <a:t>• [Students can create accounts and log in</a:t>
            </a:r>
            <a:br>
              <a:rPr lang="en-US" sz="2400" dirty="0"/>
            </a:br>
            <a:r>
              <a:rPr lang="en-US" sz="2400" dirty="0"/>
              <a:t>• Students can schedule driving lessons</a:t>
            </a:r>
            <a:br>
              <a:rPr lang="en-US" sz="2400" dirty="0"/>
            </a:br>
            <a:r>
              <a:rPr lang="en-US" sz="2400" dirty="0"/>
              <a:t>• Students can take online practice tests</a:t>
            </a:r>
            <a:br>
              <a:rPr lang="en-US" sz="2400" dirty="0"/>
            </a:br>
            <a:r>
              <a:rPr lang="en-US" sz="2400" dirty="0"/>
              <a:t>• Secure online payments</a:t>
            </a:r>
            <a:br>
              <a:rPr lang="en-US" sz="2400" dirty="0"/>
            </a:br>
            <a:r>
              <a:rPr lang="en-US" sz="2400" dirty="0"/>
              <a:t>• Easy-to-use and reliable system]</a:t>
            </a:r>
            <a:endParaRPr sz="2400" dirty="0">
              <a:solidFill>
                <a:srgbClr val="000000"/>
              </a:solidFill>
            </a:endParaRPr>
          </a:p>
        </p:txBody>
      </p:sp>
    </p:spTree>
    <p:custDataLst>
      <p:tags r:id="rId1"/>
    </p:custDataLst>
    <p:extLst>
      <p:ext uri="{BB962C8B-B14F-4D97-AF65-F5344CB8AC3E}">
        <p14:creationId xmlns:p14="http://schemas.microsoft.com/office/powerpoint/2010/main" val="18658859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Use Case Diagram</a:t>
            </a:r>
          </a:p>
        </p:txBody>
      </p:sp>
      <p:pic>
        <p:nvPicPr>
          <p:cNvPr id="5" name="Content Placeholder 4" descr="A diagram of a diagram&#10;&#10;AI-generated content may be incorrect.">
            <a:extLst>
              <a:ext uri="{FF2B5EF4-FFF2-40B4-BE49-F238E27FC236}">
                <a16:creationId xmlns:a16="http://schemas.microsoft.com/office/drawing/2014/main" id="{2E2B38A7-DBC9-77B9-3B6D-44A5FEB3C3D3}"/>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7572572" y="801688"/>
            <a:ext cx="2342757" cy="5230812"/>
          </a:xfrm>
          <a:prstGeom prst="rect">
            <a:avLst/>
          </a:prstGeom>
        </p:spPr>
      </p:pic>
    </p:spTree>
    <p:custDataLst>
      <p:tags r:id="rId1"/>
    </p:custDataLst>
    <p:extLst>
      <p:ext uri="{BB962C8B-B14F-4D97-AF65-F5344CB8AC3E}">
        <p14:creationId xmlns:p14="http://schemas.microsoft.com/office/powerpoint/2010/main" val="27764253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Activity</a:t>
            </a:r>
            <a:br>
              <a:rPr lang="en-US" dirty="0">
                <a:solidFill>
                  <a:schemeClr val="bg1"/>
                </a:solidFill>
              </a:rPr>
            </a:br>
            <a:r>
              <a:rPr lang="en-US" dirty="0">
                <a:solidFill>
                  <a:schemeClr val="bg1"/>
                </a:solidFill>
              </a:rPr>
              <a:t>Diagram</a:t>
            </a:r>
          </a:p>
        </p:txBody>
      </p:sp>
      <p:pic>
        <p:nvPicPr>
          <p:cNvPr id="5" name="Content Placeholder 4" descr="A diagram of a diagram&#10;&#10;AI-generated content may be incorrect.">
            <a:extLst>
              <a:ext uri="{FF2B5EF4-FFF2-40B4-BE49-F238E27FC236}">
                <a16:creationId xmlns:a16="http://schemas.microsoft.com/office/drawing/2014/main" id="{8ECB1908-8E89-C859-6170-FF20D26BCECE}"/>
              </a:ext>
            </a:extLst>
          </p:cNvPr>
          <p:cNvPicPr>
            <a:picLocks noGrp="1" noChangeAspect="1"/>
          </p:cNvPicPr>
          <p:nvPr>
            <p:ph idx="1"/>
          </p:nvPr>
        </p:nvPicPr>
        <p:blipFill>
          <a:blip r:embed="rId5">
            <a:extLst>
              <a:ext uri="{28A0092B-C50C-407E-A947-70E740481C1C}">
                <a14:useLocalDpi xmlns:a14="http://schemas.microsoft.com/office/drawing/2010/main" val="0"/>
              </a:ext>
            </a:extLst>
          </a:blip>
          <a:stretch>
            <a:fillRect/>
          </a:stretch>
        </p:blipFill>
        <p:spPr>
          <a:xfrm>
            <a:off x="6091238" y="2523318"/>
            <a:ext cx="5305425" cy="1787551"/>
          </a:xfrm>
          <a:prstGeom prst="rect">
            <a:avLst/>
          </a:prstGeom>
        </p:spPr>
      </p:pic>
    </p:spTree>
    <p:custDataLst>
      <p:tags r:id="rId1"/>
    </p:custDataLst>
    <p:extLst>
      <p:ext uri="{BB962C8B-B14F-4D97-AF65-F5344CB8AC3E}">
        <p14:creationId xmlns:p14="http://schemas.microsoft.com/office/powerpoint/2010/main" val="35640556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Security</a:t>
            </a:r>
          </a:p>
        </p:txBody>
      </p:sp>
      <p:sp>
        <p:nvSpPr>
          <p:cNvPr id="3" name="Content Placeholder 2"/>
          <p:cNvSpPr>
            <a:spLocks noGrp="1"/>
          </p:cNvSpPr>
          <p:nvPr>
            <p:ph idx="1"/>
          </p:nvPr>
        </p:nvSpPr>
        <p:spPr>
          <a:xfrm>
            <a:off x="6090574" y="801866"/>
            <a:ext cx="5306084" cy="5230634"/>
          </a:xfrm>
        </p:spPr>
        <p:txBody>
          <a:bodyPr anchor="ctr">
            <a:normAutofit/>
          </a:bodyPr>
          <a:lstStyle/>
          <a:p>
            <a:pPr marL="0" indent="0">
              <a:buNone/>
            </a:pPr>
            <a:r>
              <a:rPr lang="en-US" sz="2400" dirty="0"/>
              <a:t>• [Secure user logins</a:t>
            </a:r>
            <a:br>
              <a:rPr lang="en-US" sz="2400" dirty="0"/>
            </a:br>
            <a:r>
              <a:rPr lang="en-US" sz="2400" dirty="0"/>
              <a:t>• Protected personal information</a:t>
            </a:r>
            <a:br>
              <a:rPr lang="en-US" sz="2400" dirty="0"/>
            </a:br>
            <a:r>
              <a:rPr lang="en-US" sz="2400" dirty="0"/>
              <a:t>• Restricted access by role</a:t>
            </a:r>
            <a:br>
              <a:rPr lang="en-US" sz="2400" dirty="0"/>
            </a:br>
            <a:r>
              <a:rPr lang="en-US" sz="2400" dirty="0"/>
              <a:t>• Safe payment processing]</a:t>
            </a:r>
            <a:endParaRPr sz="2400" dirty="0">
              <a:solidFill>
                <a:srgbClr val="000000"/>
              </a:solidFill>
            </a:endParaRPr>
          </a:p>
        </p:txBody>
      </p:sp>
    </p:spTree>
    <p:custDataLst>
      <p:tags r:id="rId1"/>
    </p:custDataLst>
    <p:extLst>
      <p:ext uri="{BB962C8B-B14F-4D97-AF65-F5344CB8AC3E}">
        <p14:creationId xmlns:p14="http://schemas.microsoft.com/office/powerpoint/2010/main" val="3768431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3B854194-185D-494D-905C-7C7CB2E30F6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608211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B4F5FA0D-0104-4987-8241-EFF7C85B88D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1998" cy="6858000"/>
          </a:xfrm>
          <a:prstGeom prst="rect">
            <a:avLst/>
          </a:prstGeom>
          <a:gradFill>
            <a:gsLst>
              <a:gs pos="0">
                <a:schemeClr val="accent1">
                  <a:lumMod val="90000"/>
                </a:schemeClr>
              </a:gs>
              <a:gs pos="25000">
                <a:schemeClr val="accent1">
                  <a:lumMod val="90000"/>
                </a:schemeClr>
              </a:gs>
              <a:gs pos="94000">
                <a:schemeClr val="bg2">
                  <a:lumMod val="25000"/>
                </a:schemeClr>
              </a:gs>
              <a:gs pos="100000">
                <a:schemeClr val="bg2">
                  <a:lumMod val="2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2897127E-6CEF-446C-BE87-93B7C46E49D1}"/>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4">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640079" y="2053641"/>
            <a:ext cx="3669161" cy="2760098"/>
          </a:xfrm>
        </p:spPr>
        <p:txBody>
          <a:bodyPr>
            <a:normAutofit/>
          </a:bodyPr>
          <a:lstStyle/>
          <a:p>
            <a:r>
              <a:rPr lang="en-US" dirty="0">
                <a:solidFill>
                  <a:schemeClr val="bg1"/>
                </a:solidFill>
              </a:rPr>
              <a:t>System Limitations</a:t>
            </a:r>
          </a:p>
        </p:txBody>
      </p:sp>
      <p:sp>
        <p:nvSpPr>
          <p:cNvPr id="3" name="Content Placeholder 2"/>
          <p:cNvSpPr>
            <a:spLocks noGrp="1"/>
          </p:cNvSpPr>
          <p:nvPr>
            <p:ph type="body" idx="1"/>
          </p:nvPr>
        </p:nvSpPr>
        <p:spPr>
          <a:xfrm>
            <a:off x="6090574" y="801866"/>
            <a:ext cx="5306084" cy="5230634"/>
          </a:xfrm>
        </p:spPr>
        <p:txBody>
          <a:bodyPr anchor="ctr">
            <a:normAutofit/>
          </a:bodyPr>
          <a:lstStyle/>
          <a:p>
            <a:pPr marL="0" indent="0">
              <a:buNone/>
            </a:pPr>
            <a:r>
              <a:rPr lang="en-US" sz="2400" dirty="0"/>
              <a:t>• [Requires internet access</a:t>
            </a:r>
            <a:br>
              <a:rPr lang="en-US" sz="2400" dirty="0"/>
            </a:br>
            <a:r>
              <a:rPr lang="en-US" sz="2400" dirty="0"/>
              <a:t>• Limited customization options</a:t>
            </a:r>
            <a:br>
              <a:rPr lang="en-US" sz="2400" dirty="0"/>
            </a:br>
            <a:r>
              <a:rPr lang="en-US" sz="2400" dirty="0"/>
              <a:t>• Depends on system availability]</a:t>
            </a:r>
            <a:endParaRPr sz="2400" dirty="0">
              <a:solidFill>
                <a:srgbClr val="000000"/>
              </a:solidFill>
            </a:endParaRPr>
          </a:p>
        </p:txBody>
      </p:sp>
    </p:spTree>
    <p:custDataLst>
      <p:tags r:id="rId1"/>
    </p:custDataLst>
    <p:extLst>
      <p:ext uri="{BB962C8B-B14F-4D97-AF65-F5344CB8AC3E}">
        <p14:creationId xmlns:p14="http://schemas.microsoft.com/office/powerpoint/2010/main" val="322514164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ARTICULATE_SLIDE_COUNT" val="6"/>
  <p:tag name="ARTICULATE_PROJECT_OPEN" val="0"/>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WebD281</Template>
  <TotalTime>1355</TotalTime>
  <Words>500</Words>
  <Application>Microsoft Macintosh PowerPoint</Application>
  <PresentationFormat>Widescreen</PresentationFormat>
  <Paragraphs>25</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Calibri Light</vt:lpstr>
      <vt:lpstr>Office Theme</vt:lpstr>
      <vt:lpstr>DriverPass System Analysis</vt:lpstr>
      <vt:lpstr>System Requirements</vt:lpstr>
      <vt:lpstr>Use Case Diagram</vt:lpstr>
      <vt:lpstr>Activity Diagram</vt:lpstr>
      <vt:lpstr>Security</vt:lpstr>
      <vt:lpstr>System 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Systems Analysis</dc:title>
  <dc:creator>Loay Alnaji</dc:creator>
  <cp:lastModifiedBy>Shayal Singh</cp:lastModifiedBy>
  <cp:revision>21</cp:revision>
  <dcterms:created xsi:type="dcterms:W3CDTF">2019-10-14T02:36:52Z</dcterms:created>
  <dcterms:modified xsi:type="dcterms:W3CDTF">2026-02-22T19:55:22Z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rticulateGUID">
    <vt:lpwstr>17B2C008-CF5F-4D7E-BF2C-A283A0269B28</vt:lpwstr>
  </property>
  <property fmtid="{D5CDD505-2E9C-101B-9397-08002B2CF9AE}" pid="3" name="ArticulatePath">
    <vt:lpwstr>CS 255 Client Presentation Template</vt:lpwstr>
  </property>
</Properties>
</file>